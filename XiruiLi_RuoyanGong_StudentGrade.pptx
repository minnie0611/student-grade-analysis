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Lexend Mega"/>
      <p:regular r:id="rId32"/>
      <p:bold r:id="rId33"/>
    </p:embeddedFont>
    <p:embeddedFont>
      <p:font typeface="Bebas Neue"/>
      <p:regular r:id="rId34"/>
    </p:embeddedFont>
    <p:embeddedFont>
      <p:font typeface="Public Sans"/>
      <p:regular r:id="rId35"/>
      <p:bold r:id="rId36"/>
      <p:italic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6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LexendMega-bold.fntdata"/><Relationship Id="rId10" Type="http://schemas.openxmlformats.org/officeDocument/2006/relationships/slide" Target="slides/slide6.xml"/><Relationship Id="rId32" Type="http://schemas.openxmlformats.org/officeDocument/2006/relationships/font" Target="fonts/LexendMega-regular.fntdata"/><Relationship Id="rId13" Type="http://schemas.openxmlformats.org/officeDocument/2006/relationships/slide" Target="slides/slide9.xml"/><Relationship Id="rId35" Type="http://schemas.openxmlformats.org/officeDocument/2006/relationships/font" Target="fonts/PublicSans-regular.fntdata"/><Relationship Id="rId12" Type="http://schemas.openxmlformats.org/officeDocument/2006/relationships/slide" Target="slides/slide8.xml"/><Relationship Id="rId34" Type="http://schemas.openxmlformats.org/officeDocument/2006/relationships/font" Target="fonts/BebasNeue-regular.fntdata"/><Relationship Id="rId15" Type="http://schemas.openxmlformats.org/officeDocument/2006/relationships/slide" Target="slides/slide11.xml"/><Relationship Id="rId37" Type="http://schemas.openxmlformats.org/officeDocument/2006/relationships/font" Target="fonts/PublicSans-italic.fntdata"/><Relationship Id="rId14" Type="http://schemas.openxmlformats.org/officeDocument/2006/relationships/slide" Target="slides/slide10.xml"/><Relationship Id="rId36" Type="http://schemas.openxmlformats.org/officeDocument/2006/relationships/font" Target="fonts/PublicSans-bold.fntdata"/><Relationship Id="rId17" Type="http://schemas.openxmlformats.org/officeDocument/2006/relationships/slide" Target="slides/slide13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2.xml"/><Relationship Id="rId38" Type="http://schemas.openxmlformats.org/officeDocument/2006/relationships/font" Target="fonts/PublicSans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b1e710dd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b1e710dd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b1e710dd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8b1e710dd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b1e710dd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8b1e710dd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b1e710dd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8b1e710dd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b1e710dd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b1e710dd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8b1e710dd5_0_3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8b1e710dd5_0_3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b1e710dd5_0_3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8b1e710dd5_0_3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b1e710dd5_0_3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b1e710dd5_0_3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b1e710dd5_0_3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8b1e710dd5_0_3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b1e710dd5_0_3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8b1e710dd5_0_3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b1e710dd5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8b1e710dd5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b1e710dd5_0_3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b1e710dd5_0_3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8b1e710dd5_0_3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8b1e710dd5_0_3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8b1e710dd5_0_3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8b1e710dd5_0_3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ba49057e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aba49057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ba49057e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ba49057e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8b1e710dd5_0_3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8b1e710dd5_0_3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8b1e710dd5_0_3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8b1e710dd5_0_3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8b1e710dd5_0_3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8b1e710dd5_0_3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ba49057e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aba49057e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ba49057e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aba49057e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-286481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11" name="Google Shape;11;p2"/>
            <p:cNvCxnSpPr/>
            <p:nvPr/>
          </p:nvCxnSpPr>
          <p:spPr>
            <a:xfrm>
              <a:off x="-172725" y="46131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-172725" y="5400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567600" y="541884"/>
            <a:ext cx="69966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567598" y="1965963"/>
            <a:ext cx="3501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 rot="10800000">
            <a:off x="-286481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20" name="Google Shape;20;p3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" name="Google Shape;22;p3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" name="Google Shape;23;p3"/>
            <p:cNvCxnSpPr/>
            <p:nvPr/>
          </p:nvCxnSpPr>
          <p:spPr>
            <a:xfrm>
              <a:off x="-172725" y="261708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720025" y="376808"/>
            <a:ext cx="770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rot="10800000">
            <a:off x="-286481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1710765" y="1115300"/>
            <a:ext cx="260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4"/>
          <p:cNvSpPr txBox="1"/>
          <p:nvPr>
            <p:ph idx="2" type="title"/>
          </p:nvPr>
        </p:nvSpPr>
        <p:spPr>
          <a:xfrm>
            <a:off x="809920" y="1268846"/>
            <a:ext cx="7434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1710765" y="1468450"/>
            <a:ext cx="26025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3" type="title"/>
          </p:nvPr>
        </p:nvSpPr>
        <p:spPr>
          <a:xfrm>
            <a:off x="5631225" y="1709925"/>
            <a:ext cx="26136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4"/>
          <p:cNvSpPr txBox="1"/>
          <p:nvPr>
            <p:ph idx="4" type="title"/>
          </p:nvPr>
        </p:nvSpPr>
        <p:spPr>
          <a:xfrm>
            <a:off x="4733388" y="1877904"/>
            <a:ext cx="7434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4"/>
          <p:cNvSpPr txBox="1"/>
          <p:nvPr>
            <p:ph idx="5" type="subTitle"/>
          </p:nvPr>
        </p:nvSpPr>
        <p:spPr>
          <a:xfrm>
            <a:off x="5631225" y="2077500"/>
            <a:ext cx="26136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6" type="title"/>
          </p:nvPr>
        </p:nvSpPr>
        <p:spPr>
          <a:xfrm>
            <a:off x="1710765" y="2371800"/>
            <a:ext cx="260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4"/>
          <p:cNvSpPr txBox="1"/>
          <p:nvPr>
            <p:ph idx="7" type="title"/>
          </p:nvPr>
        </p:nvSpPr>
        <p:spPr>
          <a:xfrm>
            <a:off x="815420" y="2525346"/>
            <a:ext cx="7434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8" type="subTitle"/>
          </p:nvPr>
        </p:nvSpPr>
        <p:spPr>
          <a:xfrm>
            <a:off x="1710765" y="2724950"/>
            <a:ext cx="26025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9" type="title"/>
          </p:nvPr>
        </p:nvSpPr>
        <p:spPr>
          <a:xfrm>
            <a:off x="5631225" y="2980850"/>
            <a:ext cx="261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4"/>
          <p:cNvSpPr txBox="1"/>
          <p:nvPr>
            <p:ph idx="13" type="title"/>
          </p:nvPr>
        </p:nvSpPr>
        <p:spPr>
          <a:xfrm>
            <a:off x="4733388" y="3134404"/>
            <a:ext cx="7434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p4"/>
          <p:cNvSpPr txBox="1"/>
          <p:nvPr>
            <p:ph idx="14" type="subTitle"/>
          </p:nvPr>
        </p:nvSpPr>
        <p:spPr>
          <a:xfrm>
            <a:off x="5631225" y="3340600"/>
            <a:ext cx="26136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5" type="title"/>
          </p:nvPr>
        </p:nvSpPr>
        <p:spPr>
          <a:xfrm>
            <a:off x="721650" y="466491"/>
            <a:ext cx="7702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6" type="title"/>
          </p:nvPr>
        </p:nvSpPr>
        <p:spPr>
          <a:xfrm>
            <a:off x="1710765" y="3628300"/>
            <a:ext cx="260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4"/>
          <p:cNvSpPr txBox="1"/>
          <p:nvPr>
            <p:ph idx="17" type="title"/>
          </p:nvPr>
        </p:nvSpPr>
        <p:spPr>
          <a:xfrm>
            <a:off x="809945" y="3781846"/>
            <a:ext cx="7434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" name="Google Shape;43;p4"/>
          <p:cNvSpPr txBox="1"/>
          <p:nvPr>
            <p:ph idx="18" type="subTitle"/>
          </p:nvPr>
        </p:nvSpPr>
        <p:spPr>
          <a:xfrm>
            <a:off x="1710765" y="3981450"/>
            <a:ext cx="26025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" name="Google Shape;44;p4"/>
          <p:cNvCxnSpPr/>
          <p:nvPr/>
        </p:nvCxnSpPr>
        <p:spPr>
          <a:xfrm>
            <a:off x="-172725" y="4891375"/>
            <a:ext cx="940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5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>
            <a:off x="-286481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>
            <p:ph type="title"/>
          </p:nvPr>
        </p:nvSpPr>
        <p:spPr>
          <a:xfrm>
            <a:off x="1893750" y="2466200"/>
            <a:ext cx="53565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5"/>
          <p:cNvSpPr txBox="1"/>
          <p:nvPr>
            <p:ph idx="2" type="title"/>
          </p:nvPr>
        </p:nvSpPr>
        <p:spPr>
          <a:xfrm>
            <a:off x="3770250" y="670500"/>
            <a:ext cx="160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2391925" y="3934599"/>
            <a:ext cx="4360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0" name="Google Shape;50;p5"/>
          <p:cNvCxnSpPr/>
          <p:nvPr/>
        </p:nvCxnSpPr>
        <p:spPr>
          <a:xfrm>
            <a:off x="355067" y="-81600"/>
            <a:ext cx="0" cy="53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5"/>
          <p:cNvCxnSpPr/>
          <p:nvPr/>
        </p:nvCxnSpPr>
        <p:spPr>
          <a:xfrm>
            <a:off x="8780417" y="-81600"/>
            <a:ext cx="0" cy="53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5"/>
          <p:cNvCxnSpPr/>
          <p:nvPr/>
        </p:nvCxnSpPr>
        <p:spPr>
          <a:xfrm>
            <a:off x="-172725" y="4891375"/>
            <a:ext cx="940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_1_1_2_1_1_2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6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 rot="10800000">
            <a:off x="-134081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6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56" name="Google Shape;56;p6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" name="Google Shape;57;p6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6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9" name="Google Shape;59;p6"/>
          <p:cNvSpPr txBox="1"/>
          <p:nvPr>
            <p:ph type="title"/>
          </p:nvPr>
        </p:nvSpPr>
        <p:spPr>
          <a:xfrm>
            <a:off x="964125" y="1550553"/>
            <a:ext cx="7215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p6"/>
          <p:cNvSpPr txBox="1"/>
          <p:nvPr>
            <p:ph idx="1" type="subTitle"/>
          </p:nvPr>
        </p:nvSpPr>
        <p:spPr>
          <a:xfrm>
            <a:off x="1750650" y="2392347"/>
            <a:ext cx="5642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1_1_1_2_1_1_2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7"/>
          <p:cNvPicPr preferRelativeResize="0"/>
          <p:nvPr/>
        </p:nvPicPr>
        <p:blipFill rotWithShape="1">
          <a:blip r:embed="rId2">
            <a:alphaModFix amt="50000"/>
          </a:blip>
          <a:srcRect b="0" l="2723" r="0" t="0"/>
          <a:stretch/>
        </p:blipFill>
        <p:spPr>
          <a:xfrm>
            <a:off x="-29400" y="0"/>
            <a:ext cx="91734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>
            <p:ph idx="1" type="body"/>
          </p:nvPr>
        </p:nvSpPr>
        <p:spPr>
          <a:xfrm>
            <a:off x="643225" y="2013246"/>
            <a:ext cx="4223100" cy="2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type="title"/>
          </p:nvPr>
        </p:nvSpPr>
        <p:spPr>
          <a:xfrm>
            <a:off x="643225" y="1102550"/>
            <a:ext cx="42231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cxnSp>
        <p:nvCxnSpPr>
          <p:cNvPr id="65" name="Google Shape;65;p7"/>
          <p:cNvCxnSpPr/>
          <p:nvPr/>
        </p:nvCxnSpPr>
        <p:spPr>
          <a:xfrm>
            <a:off x="-172725" y="4891375"/>
            <a:ext cx="940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7"/>
          <p:cNvCxnSpPr/>
          <p:nvPr/>
        </p:nvCxnSpPr>
        <p:spPr>
          <a:xfrm>
            <a:off x="355067" y="-81600"/>
            <a:ext cx="0" cy="53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7"/>
          <p:cNvSpPr/>
          <p:nvPr>
            <p:ph idx="2" type="pic"/>
          </p:nvPr>
        </p:nvSpPr>
        <p:spPr>
          <a:xfrm>
            <a:off x="5235875" y="0"/>
            <a:ext cx="3908100" cy="514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 rot="10800000">
            <a:off x="-14106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>
            <p:ph idx="1" type="subTitle"/>
          </p:nvPr>
        </p:nvSpPr>
        <p:spPr>
          <a:xfrm>
            <a:off x="835988" y="2303550"/>
            <a:ext cx="3174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sz="1600">
                <a:latin typeface="Lexend Mega"/>
                <a:ea typeface="Lexend Mega"/>
                <a:cs typeface="Lexend Mega"/>
                <a:sym typeface="Lexend Me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2" type="subTitle"/>
          </p:nvPr>
        </p:nvSpPr>
        <p:spPr>
          <a:xfrm>
            <a:off x="5048663" y="2303550"/>
            <a:ext cx="3174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sz="1600">
                <a:latin typeface="Lexend Mega"/>
                <a:ea typeface="Lexend Mega"/>
                <a:cs typeface="Lexend Mega"/>
                <a:sym typeface="Lexend Me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3" type="subTitle"/>
          </p:nvPr>
        </p:nvSpPr>
        <p:spPr>
          <a:xfrm>
            <a:off x="835988" y="2699813"/>
            <a:ext cx="31740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4" type="subTitle"/>
          </p:nvPr>
        </p:nvSpPr>
        <p:spPr>
          <a:xfrm>
            <a:off x="5048663" y="2699815"/>
            <a:ext cx="31740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>
            <a:off x="550050" y="376808"/>
            <a:ext cx="8043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grpSp>
        <p:nvGrpSpPr>
          <p:cNvPr id="75" name="Google Shape;75;p8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76" name="Google Shape;76;p8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8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8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9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rot="10800000">
            <a:off x="18319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9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82" name="Google Shape;82;p9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9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9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9"/>
            <p:cNvCxnSpPr/>
            <p:nvPr/>
          </p:nvCxnSpPr>
          <p:spPr>
            <a:xfrm>
              <a:off x="-172725" y="261708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6" name="Google Shape;86;p9"/>
          <p:cNvSpPr txBox="1"/>
          <p:nvPr>
            <p:ph type="title"/>
          </p:nvPr>
        </p:nvSpPr>
        <p:spPr>
          <a:xfrm>
            <a:off x="715750" y="2604724"/>
            <a:ext cx="23364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719975" y="2947100"/>
            <a:ext cx="2336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2" type="title"/>
          </p:nvPr>
        </p:nvSpPr>
        <p:spPr>
          <a:xfrm>
            <a:off x="3399550" y="2604724"/>
            <a:ext cx="23364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9"/>
          <p:cNvSpPr txBox="1"/>
          <p:nvPr>
            <p:ph idx="3" type="subTitle"/>
          </p:nvPr>
        </p:nvSpPr>
        <p:spPr>
          <a:xfrm>
            <a:off x="3399550" y="2947100"/>
            <a:ext cx="2336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4" type="title"/>
          </p:nvPr>
        </p:nvSpPr>
        <p:spPr>
          <a:xfrm>
            <a:off x="6083350" y="2604724"/>
            <a:ext cx="23364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1" name="Google Shape;91;p9"/>
          <p:cNvSpPr txBox="1"/>
          <p:nvPr>
            <p:ph idx="5" type="subTitle"/>
          </p:nvPr>
        </p:nvSpPr>
        <p:spPr>
          <a:xfrm>
            <a:off x="6083350" y="2947100"/>
            <a:ext cx="2336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6" type="title"/>
          </p:nvPr>
        </p:nvSpPr>
        <p:spPr>
          <a:xfrm>
            <a:off x="721650" y="376808"/>
            <a:ext cx="7702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_1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0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-17349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0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96" name="Google Shape;96;p10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10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10"/>
            <p:cNvCxnSpPr/>
            <p:nvPr/>
          </p:nvCxnSpPr>
          <p:spPr>
            <a:xfrm>
              <a:off x="-172725" y="261708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9" name="Google Shape;99;p10"/>
          <p:cNvSpPr txBox="1"/>
          <p:nvPr>
            <p:ph type="title"/>
          </p:nvPr>
        </p:nvSpPr>
        <p:spPr>
          <a:xfrm>
            <a:off x="720000" y="1922183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720000" y="2333278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2" type="title"/>
          </p:nvPr>
        </p:nvSpPr>
        <p:spPr>
          <a:xfrm>
            <a:off x="3419269" y="1922183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3419269" y="2333278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idx="4" type="title"/>
          </p:nvPr>
        </p:nvSpPr>
        <p:spPr>
          <a:xfrm>
            <a:off x="720000" y="3698199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" name="Google Shape;104;p10"/>
          <p:cNvSpPr txBox="1"/>
          <p:nvPr>
            <p:ph idx="5" type="subTitle"/>
          </p:nvPr>
        </p:nvSpPr>
        <p:spPr>
          <a:xfrm>
            <a:off x="720000" y="4109293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6" type="title"/>
          </p:nvPr>
        </p:nvSpPr>
        <p:spPr>
          <a:xfrm>
            <a:off x="3419269" y="3698199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6" name="Google Shape;106;p10"/>
          <p:cNvSpPr txBox="1"/>
          <p:nvPr>
            <p:ph idx="7" type="subTitle"/>
          </p:nvPr>
        </p:nvSpPr>
        <p:spPr>
          <a:xfrm>
            <a:off x="3419269" y="4109293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8" type="title"/>
          </p:nvPr>
        </p:nvSpPr>
        <p:spPr>
          <a:xfrm>
            <a:off x="6118545" y="1922183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8" name="Google Shape;108;p10"/>
          <p:cNvSpPr txBox="1"/>
          <p:nvPr>
            <p:ph idx="9" type="subTitle"/>
          </p:nvPr>
        </p:nvSpPr>
        <p:spPr>
          <a:xfrm>
            <a:off x="6118545" y="2333278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"/>
          <p:cNvSpPr txBox="1"/>
          <p:nvPr>
            <p:ph idx="13" type="title"/>
          </p:nvPr>
        </p:nvSpPr>
        <p:spPr>
          <a:xfrm>
            <a:off x="6118545" y="3698199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0" name="Google Shape;110;p10"/>
          <p:cNvSpPr txBox="1"/>
          <p:nvPr>
            <p:ph idx="14" type="subTitle"/>
          </p:nvPr>
        </p:nvSpPr>
        <p:spPr>
          <a:xfrm>
            <a:off x="6118545" y="4109293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15" type="title"/>
          </p:nvPr>
        </p:nvSpPr>
        <p:spPr>
          <a:xfrm>
            <a:off x="721650" y="376808"/>
            <a:ext cx="7702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1"/>
          <p:cNvSpPr txBox="1"/>
          <p:nvPr>
            <p:ph type="title"/>
          </p:nvPr>
        </p:nvSpPr>
        <p:spPr>
          <a:xfrm>
            <a:off x="3429000" y="376808"/>
            <a:ext cx="4995300" cy="79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2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-25455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12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118" name="Google Shape;118;p12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2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2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2"/>
            <p:cNvCxnSpPr/>
            <p:nvPr/>
          </p:nvCxnSpPr>
          <p:spPr>
            <a:xfrm>
              <a:off x="-172725" y="261708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2" name="Google Shape;122;p12"/>
          <p:cNvSpPr txBox="1"/>
          <p:nvPr>
            <p:ph type="title"/>
          </p:nvPr>
        </p:nvSpPr>
        <p:spPr>
          <a:xfrm>
            <a:off x="721650" y="376808"/>
            <a:ext cx="7702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3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 rot="10800000">
            <a:off x="-22213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3"/>
          <p:cNvSpPr txBox="1"/>
          <p:nvPr>
            <p:ph type="title"/>
          </p:nvPr>
        </p:nvSpPr>
        <p:spPr>
          <a:xfrm>
            <a:off x="721650" y="376808"/>
            <a:ext cx="7702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grpSp>
        <p:nvGrpSpPr>
          <p:cNvPr id="126" name="Google Shape;126;p13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127" name="Google Shape;127;p13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13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13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2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>
            <a:off x="-286481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4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133" name="Google Shape;133;p14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14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14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14"/>
            <p:cNvCxnSpPr/>
            <p:nvPr/>
          </p:nvCxnSpPr>
          <p:spPr>
            <a:xfrm>
              <a:off x="-172725" y="261708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7" name="Google Shape;137;p14"/>
          <p:cNvSpPr txBox="1"/>
          <p:nvPr>
            <p:ph type="title"/>
          </p:nvPr>
        </p:nvSpPr>
        <p:spPr>
          <a:xfrm>
            <a:off x="721650" y="376808"/>
            <a:ext cx="7702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_1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5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rot="10800000">
            <a:off x="-286481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355067" y="-81600"/>
            <a:ext cx="8425350" cy="5306700"/>
            <a:chOff x="355067" y="-81600"/>
            <a:chExt cx="8425350" cy="5306700"/>
          </a:xfrm>
        </p:grpSpPr>
        <p:cxnSp>
          <p:nvCxnSpPr>
            <p:cNvPr id="141" name="Google Shape;141;p15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15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3" name="Google Shape;143;p15"/>
          <p:cNvSpPr txBox="1"/>
          <p:nvPr>
            <p:ph type="title"/>
          </p:nvPr>
        </p:nvSpPr>
        <p:spPr>
          <a:xfrm>
            <a:off x="862750" y="768250"/>
            <a:ext cx="39066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5047550" y="816800"/>
            <a:ext cx="33765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2" type="title"/>
          </p:nvPr>
        </p:nvSpPr>
        <p:spPr>
          <a:xfrm>
            <a:off x="862750" y="2300539"/>
            <a:ext cx="39066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46" name="Google Shape;146;p15"/>
          <p:cNvSpPr txBox="1"/>
          <p:nvPr>
            <p:ph idx="3" type="subTitle"/>
          </p:nvPr>
        </p:nvSpPr>
        <p:spPr>
          <a:xfrm>
            <a:off x="5047550" y="2349144"/>
            <a:ext cx="33765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5"/>
          <p:cNvSpPr txBox="1"/>
          <p:nvPr>
            <p:ph idx="4" type="title"/>
          </p:nvPr>
        </p:nvSpPr>
        <p:spPr>
          <a:xfrm>
            <a:off x="862750" y="3832900"/>
            <a:ext cx="39066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48" name="Google Shape;148;p15"/>
          <p:cNvSpPr txBox="1"/>
          <p:nvPr>
            <p:ph idx="5" type="subTitle"/>
          </p:nvPr>
        </p:nvSpPr>
        <p:spPr>
          <a:xfrm>
            <a:off x="5047550" y="3881500"/>
            <a:ext cx="33765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1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-57881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6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152" name="Google Shape;152;p16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16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16"/>
            <p:cNvCxnSpPr/>
            <p:nvPr/>
          </p:nvCxnSpPr>
          <p:spPr>
            <a:xfrm>
              <a:off x="-172725" y="5400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5" name="Google Shape;155;p16"/>
          <p:cNvSpPr txBox="1"/>
          <p:nvPr>
            <p:ph type="ctrTitle"/>
          </p:nvPr>
        </p:nvSpPr>
        <p:spPr>
          <a:xfrm>
            <a:off x="2369474" y="760425"/>
            <a:ext cx="58104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1" type="subTitle"/>
          </p:nvPr>
        </p:nvSpPr>
        <p:spPr>
          <a:xfrm>
            <a:off x="2369471" y="2026075"/>
            <a:ext cx="44358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2" type="subTitle"/>
          </p:nvPr>
        </p:nvSpPr>
        <p:spPr>
          <a:xfrm>
            <a:off x="2369475" y="4113675"/>
            <a:ext cx="4435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16"/>
          <p:cNvSpPr txBox="1"/>
          <p:nvPr/>
        </p:nvSpPr>
        <p:spPr>
          <a:xfrm>
            <a:off x="2354100" y="3291727"/>
            <a:ext cx="443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Public Sans"/>
                <a:ea typeface="Public Sans"/>
                <a:cs typeface="Public Sans"/>
                <a:sym typeface="Public Sans"/>
                <a:hlinkClick r:id="rId3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, including icons, infographics &amp; images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Public Sans"/>
                <a:ea typeface="Public Sans"/>
                <a:cs typeface="Public Sans"/>
                <a:sym typeface="Public Sans"/>
                <a:hlinkClick r:id="rId4"/>
              </a:rPr>
              <a:t>Freepik</a:t>
            </a:r>
            <a:endParaRPr b="1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1_1_2_1_1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>
            <a:off x="-33561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162" name="Google Shape;162;p17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7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7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720000" y="2671325"/>
            <a:ext cx="60096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6" name="Google Shape;166;p17"/>
          <p:cNvSpPr txBox="1"/>
          <p:nvPr>
            <p:ph idx="2" type="subTitle"/>
          </p:nvPr>
        </p:nvSpPr>
        <p:spPr>
          <a:xfrm>
            <a:off x="720000" y="2232425"/>
            <a:ext cx="2291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sz="1600">
                <a:latin typeface="Lexend Mega"/>
                <a:ea typeface="Lexend Mega"/>
                <a:cs typeface="Lexend Mega"/>
                <a:sym typeface="Lexend Me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3" type="subTitle"/>
          </p:nvPr>
        </p:nvSpPr>
        <p:spPr>
          <a:xfrm>
            <a:off x="720000" y="1065700"/>
            <a:ext cx="4922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721650" y="378108"/>
            <a:ext cx="7702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1_1_2_1_1_2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 rot="10800000">
            <a:off x="-134081" y="0"/>
            <a:ext cx="943048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8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172" name="Google Shape;172;p18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p18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p18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4125450" y="1684275"/>
            <a:ext cx="4298700" cy="27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6" name="Google Shape;176;p18"/>
          <p:cNvSpPr txBox="1"/>
          <p:nvPr>
            <p:ph idx="2" type="subTitle"/>
          </p:nvPr>
        </p:nvSpPr>
        <p:spPr>
          <a:xfrm>
            <a:off x="4125450" y="1245375"/>
            <a:ext cx="2291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sz="1600">
                <a:latin typeface="Lexend Mega"/>
                <a:ea typeface="Lexend Mega"/>
                <a:cs typeface="Lexend Mega"/>
                <a:sym typeface="Lexend Me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idx="3" type="subTitle"/>
          </p:nvPr>
        </p:nvSpPr>
        <p:spPr>
          <a:xfrm>
            <a:off x="720000" y="1245375"/>
            <a:ext cx="26961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type="title"/>
          </p:nvPr>
        </p:nvSpPr>
        <p:spPr>
          <a:xfrm>
            <a:off x="721650" y="376808"/>
            <a:ext cx="7702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/>
          <p:cNvPicPr preferRelativeResize="0"/>
          <p:nvPr/>
        </p:nvPicPr>
        <p:blipFill rotWithShape="1">
          <a:blip r:embed="rId2">
            <a:alphaModFix amt="50000"/>
          </a:blip>
          <a:srcRect b="0" l="2723" r="0" t="0"/>
          <a:stretch/>
        </p:blipFill>
        <p:spPr>
          <a:xfrm>
            <a:off x="-29400" y="0"/>
            <a:ext cx="91734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643225" y="2013246"/>
            <a:ext cx="4223100" cy="2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19"/>
          <p:cNvSpPr txBox="1"/>
          <p:nvPr>
            <p:ph type="title"/>
          </p:nvPr>
        </p:nvSpPr>
        <p:spPr>
          <a:xfrm>
            <a:off x="643225" y="1102554"/>
            <a:ext cx="36447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cxnSp>
        <p:nvCxnSpPr>
          <p:cNvPr id="183" name="Google Shape;183;p19"/>
          <p:cNvCxnSpPr/>
          <p:nvPr/>
        </p:nvCxnSpPr>
        <p:spPr>
          <a:xfrm>
            <a:off x="-172725" y="4891375"/>
            <a:ext cx="940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9"/>
          <p:cNvCxnSpPr/>
          <p:nvPr/>
        </p:nvCxnSpPr>
        <p:spPr>
          <a:xfrm>
            <a:off x="355067" y="-81600"/>
            <a:ext cx="0" cy="53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19"/>
          <p:cNvCxnSpPr/>
          <p:nvPr/>
        </p:nvCxnSpPr>
        <p:spPr>
          <a:xfrm>
            <a:off x="8423992" y="-81600"/>
            <a:ext cx="0" cy="53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19"/>
          <p:cNvCxnSpPr/>
          <p:nvPr/>
        </p:nvCxnSpPr>
        <p:spPr>
          <a:xfrm>
            <a:off x="-172725" y="261708"/>
            <a:ext cx="940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0"/>
          <p:cNvGrpSpPr/>
          <p:nvPr/>
        </p:nvGrpSpPr>
        <p:grpSpPr>
          <a:xfrm>
            <a:off x="-172725" y="252175"/>
            <a:ext cx="9404100" cy="4639200"/>
            <a:chOff x="-172725" y="252175"/>
            <a:chExt cx="9404100" cy="4639200"/>
          </a:xfrm>
        </p:grpSpPr>
        <p:cxnSp>
          <p:nvCxnSpPr>
            <p:cNvPr id="189" name="Google Shape;189;p20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20"/>
            <p:cNvCxnSpPr/>
            <p:nvPr/>
          </p:nvCxnSpPr>
          <p:spPr>
            <a:xfrm>
              <a:off x="-172725" y="46131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20"/>
            <p:cNvCxnSpPr/>
            <p:nvPr/>
          </p:nvCxnSpPr>
          <p:spPr>
            <a:xfrm>
              <a:off x="-172725" y="53045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20"/>
            <p:cNvCxnSpPr/>
            <p:nvPr/>
          </p:nvCxnSpPr>
          <p:spPr>
            <a:xfrm>
              <a:off x="-172725" y="2521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3" name="Google Shape;193;p20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1799500" y="648038"/>
            <a:ext cx="5536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6" name="Google Shape;196;p21"/>
          <p:cNvSpPr txBox="1"/>
          <p:nvPr>
            <p:ph idx="1" type="subTitle"/>
          </p:nvPr>
        </p:nvSpPr>
        <p:spPr>
          <a:xfrm>
            <a:off x="720000" y="1692725"/>
            <a:ext cx="34614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7" name="Google Shape;197;p21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198" name="Google Shape;198;p21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99" name="Google Shape;199;p21"/>
            <p:cNvGrpSpPr/>
            <p:nvPr/>
          </p:nvGrpSpPr>
          <p:grpSpPr>
            <a:xfrm>
              <a:off x="-172725" y="-81600"/>
              <a:ext cx="9404100" cy="5306700"/>
              <a:chOff x="-172725" y="-81600"/>
              <a:chExt cx="9404100" cy="5306700"/>
            </a:xfrm>
          </p:grpSpPr>
          <p:cxnSp>
            <p:nvCxnSpPr>
              <p:cNvPr id="200" name="Google Shape;200;p21"/>
              <p:cNvCxnSpPr/>
              <p:nvPr/>
            </p:nvCxnSpPr>
            <p:spPr>
              <a:xfrm>
                <a:off x="355067" y="-81600"/>
                <a:ext cx="0" cy="530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21"/>
              <p:cNvCxnSpPr/>
              <p:nvPr/>
            </p:nvCxnSpPr>
            <p:spPr>
              <a:xfrm>
                <a:off x="-172725" y="4891375"/>
                <a:ext cx="9404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21"/>
              <p:cNvCxnSpPr/>
              <p:nvPr/>
            </p:nvCxnSpPr>
            <p:spPr>
              <a:xfrm>
                <a:off x="-172725" y="4515550"/>
                <a:ext cx="9404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2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205" name="Google Shape;205;p22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22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22"/>
            <p:cNvCxnSpPr/>
            <p:nvPr/>
          </p:nvCxnSpPr>
          <p:spPr>
            <a:xfrm>
              <a:off x="-172725" y="404695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8" name="Google Shape;208;p22"/>
          <p:cNvSpPr txBox="1"/>
          <p:nvPr>
            <p:ph hasCustomPrompt="1" type="title"/>
          </p:nvPr>
        </p:nvSpPr>
        <p:spPr>
          <a:xfrm>
            <a:off x="1721951" y="1439707"/>
            <a:ext cx="56883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1240800" y="4099175"/>
            <a:ext cx="65760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/>
          <p:nvPr/>
        </p:nvSpPr>
        <p:spPr>
          <a:xfrm>
            <a:off x="-53100" y="-15900"/>
            <a:ext cx="9250200" cy="517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4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214" name="Google Shape;214;p24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5" name="Google Shape;215;p24"/>
            <p:cNvCxnSpPr/>
            <p:nvPr/>
          </p:nvCxnSpPr>
          <p:spPr>
            <a:xfrm>
              <a:off x="-172725" y="46131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" name="Google Shape;216;p24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" name="Google Shape;217;p24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" name="Google Shape;218;p24"/>
            <p:cNvCxnSpPr/>
            <p:nvPr/>
          </p:nvCxnSpPr>
          <p:spPr>
            <a:xfrm>
              <a:off x="-172725" y="261708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9" name="Google Shape;219;p24"/>
          <p:cNvSpPr txBox="1"/>
          <p:nvPr>
            <p:ph type="title"/>
          </p:nvPr>
        </p:nvSpPr>
        <p:spPr>
          <a:xfrm>
            <a:off x="5766000" y="3712100"/>
            <a:ext cx="2407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0" name="Google Shape;220;p24"/>
          <p:cNvSpPr txBox="1"/>
          <p:nvPr>
            <p:ph idx="1" type="subTitle"/>
          </p:nvPr>
        </p:nvSpPr>
        <p:spPr>
          <a:xfrm>
            <a:off x="720000" y="762000"/>
            <a:ext cx="5363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5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223" name="Google Shape;223;p25"/>
            <p:cNvCxnSpPr/>
            <p:nvPr/>
          </p:nvCxnSpPr>
          <p:spPr>
            <a:xfrm>
              <a:off x="8423992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25"/>
            <p:cNvCxnSpPr/>
            <p:nvPr/>
          </p:nvCxnSpPr>
          <p:spPr>
            <a:xfrm>
              <a:off x="-172725" y="46035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25"/>
            <p:cNvCxnSpPr/>
            <p:nvPr/>
          </p:nvCxnSpPr>
          <p:spPr>
            <a:xfrm>
              <a:off x="16643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25"/>
            <p:cNvCxnSpPr/>
            <p:nvPr/>
          </p:nvCxnSpPr>
          <p:spPr>
            <a:xfrm>
              <a:off x="-172725" y="11014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7" name="Google Shape;227;p25"/>
          <p:cNvSpPr txBox="1"/>
          <p:nvPr>
            <p:ph type="title"/>
          </p:nvPr>
        </p:nvSpPr>
        <p:spPr>
          <a:xfrm>
            <a:off x="2141966" y="1779100"/>
            <a:ext cx="62973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8" name="Google Shape;228;p25"/>
          <p:cNvSpPr txBox="1"/>
          <p:nvPr>
            <p:ph idx="2" type="title"/>
          </p:nvPr>
        </p:nvSpPr>
        <p:spPr>
          <a:xfrm>
            <a:off x="862625" y="670500"/>
            <a:ext cx="160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29" name="Google Shape;229;p25"/>
          <p:cNvSpPr txBox="1"/>
          <p:nvPr>
            <p:ph idx="1" type="subTitle"/>
          </p:nvPr>
        </p:nvSpPr>
        <p:spPr>
          <a:xfrm>
            <a:off x="2141966" y="3901536"/>
            <a:ext cx="4360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6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232" name="Google Shape;232;p26"/>
            <p:cNvCxnSpPr/>
            <p:nvPr/>
          </p:nvCxnSpPr>
          <p:spPr>
            <a:xfrm>
              <a:off x="723942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26"/>
            <p:cNvCxnSpPr/>
            <p:nvPr/>
          </p:nvCxnSpPr>
          <p:spPr>
            <a:xfrm>
              <a:off x="-172725" y="46035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26"/>
            <p:cNvCxnSpPr/>
            <p:nvPr/>
          </p:nvCxnSpPr>
          <p:spPr>
            <a:xfrm>
              <a:off x="7114942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26"/>
            <p:cNvCxnSpPr/>
            <p:nvPr/>
          </p:nvCxnSpPr>
          <p:spPr>
            <a:xfrm>
              <a:off x="-172725" y="11014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6" name="Google Shape;236;p26"/>
          <p:cNvSpPr txBox="1"/>
          <p:nvPr>
            <p:ph type="title"/>
          </p:nvPr>
        </p:nvSpPr>
        <p:spPr>
          <a:xfrm>
            <a:off x="942475" y="1659900"/>
            <a:ext cx="5813100" cy="18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7" name="Google Shape;237;p26"/>
          <p:cNvSpPr txBox="1"/>
          <p:nvPr>
            <p:ph idx="2" type="title"/>
          </p:nvPr>
        </p:nvSpPr>
        <p:spPr>
          <a:xfrm>
            <a:off x="6313200" y="680575"/>
            <a:ext cx="160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38" name="Google Shape;238;p26"/>
          <p:cNvSpPr txBox="1"/>
          <p:nvPr>
            <p:ph idx="1" type="subTitle"/>
          </p:nvPr>
        </p:nvSpPr>
        <p:spPr>
          <a:xfrm>
            <a:off x="942466" y="3901536"/>
            <a:ext cx="4360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>
            <p:ph type="title"/>
          </p:nvPr>
        </p:nvSpPr>
        <p:spPr>
          <a:xfrm>
            <a:off x="2014050" y="376808"/>
            <a:ext cx="51177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cxnSp>
        <p:nvCxnSpPr>
          <p:cNvPr id="241" name="Google Shape;241;p27"/>
          <p:cNvCxnSpPr/>
          <p:nvPr/>
        </p:nvCxnSpPr>
        <p:spPr>
          <a:xfrm>
            <a:off x="716630" y="-81600"/>
            <a:ext cx="0" cy="53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type="title"/>
          </p:nvPr>
        </p:nvSpPr>
        <p:spPr>
          <a:xfrm>
            <a:off x="2014050" y="376808"/>
            <a:ext cx="51177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cxnSp>
        <p:nvCxnSpPr>
          <p:cNvPr id="244" name="Google Shape;244;p28"/>
          <p:cNvCxnSpPr/>
          <p:nvPr/>
        </p:nvCxnSpPr>
        <p:spPr>
          <a:xfrm>
            <a:off x="8424005" y="-81600"/>
            <a:ext cx="0" cy="53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2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9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247" name="Google Shape;247;p29"/>
            <p:cNvCxnSpPr/>
            <p:nvPr/>
          </p:nvCxnSpPr>
          <p:spPr>
            <a:xfrm>
              <a:off x="-172725" y="46131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29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29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29"/>
            <p:cNvCxnSpPr/>
            <p:nvPr/>
          </p:nvCxnSpPr>
          <p:spPr>
            <a:xfrm>
              <a:off x="-172725" y="46131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29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29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29"/>
            <p:cNvCxnSpPr/>
            <p:nvPr/>
          </p:nvCxnSpPr>
          <p:spPr>
            <a:xfrm>
              <a:off x="-172725" y="261708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4" name="Google Shape;254;p29"/>
          <p:cNvSpPr txBox="1"/>
          <p:nvPr>
            <p:ph type="title"/>
          </p:nvPr>
        </p:nvSpPr>
        <p:spPr>
          <a:xfrm>
            <a:off x="721650" y="378108"/>
            <a:ext cx="7702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1_1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30"/>
          <p:cNvGrpSpPr/>
          <p:nvPr/>
        </p:nvGrpSpPr>
        <p:grpSpPr>
          <a:xfrm>
            <a:off x="355067" y="-81600"/>
            <a:ext cx="8425350" cy="5306700"/>
            <a:chOff x="355067" y="-81600"/>
            <a:chExt cx="8425350" cy="5306700"/>
          </a:xfrm>
        </p:grpSpPr>
        <p:cxnSp>
          <p:nvCxnSpPr>
            <p:cNvPr id="257" name="Google Shape;257;p30"/>
            <p:cNvCxnSpPr/>
            <p:nvPr/>
          </p:nvCxnSpPr>
          <p:spPr>
            <a:xfrm>
              <a:off x="7197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8" name="Google Shape;258;p30"/>
            <p:cNvCxnSpPr/>
            <p:nvPr/>
          </p:nvCxnSpPr>
          <p:spPr>
            <a:xfrm>
              <a:off x="8423992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9" name="Google Shape;259;p30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" name="Google Shape;260;p30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2437050" y="3081925"/>
            <a:ext cx="42699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0"/>
          <p:cNvSpPr txBox="1"/>
          <p:nvPr>
            <p:ph type="title"/>
          </p:nvPr>
        </p:nvSpPr>
        <p:spPr>
          <a:xfrm>
            <a:off x="2437050" y="1645825"/>
            <a:ext cx="42699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1_1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32"/>
          <p:cNvGrpSpPr/>
          <p:nvPr/>
        </p:nvGrpSpPr>
        <p:grpSpPr>
          <a:xfrm>
            <a:off x="-172725" y="-81600"/>
            <a:ext cx="9404250" cy="5306700"/>
            <a:chOff x="-172725" y="-81600"/>
            <a:chExt cx="9404250" cy="5306700"/>
          </a:xfrm>
        </p:grpSpPr>
        <p:cxnSp>
          <p:nvCxnSpPr>
            <p:cNvPr id="266" name="Google Shape;266;p32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32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32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32"/>
            <p:cNvCxnSpPr/>
            <p:nvPr/>
          </p:nvCxnSpPr>
          <p:spPr>
            <a:xfrm>
              <a:off x="-172725" y="46131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32"/>
            <p:cNvCxnSpPr/>
            <p:nvPr/>
          </p:nvCxnSpPr>
          <p:spPr>
            <a:xfrm>
              <a:off x="4529325" y="261700"/>
              <a:ext cx="4702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" name="Google Shape;271;p32"/>
            <p:cNvCxnSpPr/>
            <p:nvPr/>
          </p:nvCxnSpPr>
          <p:spPr>
            <a:xfrm>
              <a:off x="4529330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33"/>
          <p:cNvGrpSpPr/>
          <p:nvPr/>
        </p:nvGrpSpPr>
        <p:grpSpPr>
          <a:xfrm>
            <a:off x="-172725" y="-81600"/>
            <a:ext cx="9404100" cy="5306700"/>
            <a:chOff x="-172725" y="-81600"/>
            <a:chExt cx="9404100" cy="5306700"/>
          </a:xfrm>
        </p:grpSpPr>
        <p:cxnSp>
          <p:nvCxnSpPr>
            <p:cNvPr id="274" name="Google Shape;274;p33"/>
            <p:cNvCxnSpPr/>
            <p:nvPr/>
          </p:nvCxnSpPr>
          <p:spPr>
            <a:xfrm>
              <a:off x="-172725" y="46131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33"/>
            <p:cNvCxnSpPr/>
            <p:nvPr/>
          </p:nvCxnSpPr>
          <p:spPr>
            <a:xfrm>
              <a:off x="35506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33"/>
            <p:cNvCxnSpPr/>
            <p:nvPr/>
          </p:nvCxnSpPr>
          <p:spPr>
            <a:xfrm>
              <a:off x="8780417" y="-81600"/>
              <a:ext cx="0" cy="530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33"/>
            <p:cNvCxnSpPr/>
            <p:nvPr/>
          </p:nvCxnSpPr>
          <p:spPr>
            <a:xfrm>
              <a:off x="-172725" y="4891375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p33"/>
            <p:cNvCxnSpPr/>
            <p:nvPr/>
          </p:nvCxnSpPr>
          <p:spPr>
            <a:xfrm>
              <a:off x="-172725" y="540000"/>
              <a:ext cx="940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ga"/>
              <a:buNone/>
              <a:defRPr b="1" i="0" sz="2100" u="none" cap="none" strike="noStrike">
                <a:solidFill>
                  <a:schemeClr val="dk1"/>
                </a:solidFill>
                <a:latin typeface="Lexend Mega"/>
                <a:ea typeface="Lexend Mega"/>
                <a:cs typeface="Lexend Mega"/>
                <a:sym typeface="Lexend Meg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ga"/>
              <a:buNone/>
              <a:defRPr b="1" i="0" sz="2100" u="none" cap="none" strike="noStrike">
                <a:solidFill>
                  <a:schemeClr val="dk1"/>
                </a:solidFill>
                <a:latin typeface="Lexend Mega"/>
                <a:ea typeface="Lexend Mega"/>
                <a:cs typeface="Lexend Mega"/>
                <a:sym typeface="Lexend Meg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ga"/>
              <a:buNone/>
              <a:defRPr b="1" i="0" sz="2100" u="none" cap="none" strike="noStrike">
                <a:solidFill>
                  <a:schemeClr val="dk1"/>
                </a:solidFill>
                <a:latin typeface="Lexend Mega"/>
                <a:ea typeface="Lexend Mega"/>
                <a:cs typeface="Lexend Mega"/>
                <a:sym typeface="Lexend Meg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ga"/>
              <a:buNone/>
              <a:defRPr b="1" i="0" sz="2100" u="none" cap="none" strike="noStrike">
                <a:solidFill>
                  <a:schemeClr val="dk1"/>
                </a:solidFill>
                <a:latin typeface="Lexend Mega"/>
                <a:ea typeface="Lexend Mega"/>
                <a:cs typeface="Lexend Mega"/>
                <a:sym typeface="Lexend Meg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ga"/>
              <a:buNone/>
              <a:defRPr b="1" i="0" sz="2100" u="none" cap="none" strike="noStrike">
                <a:solidFill>
                  <a:schemeClr val="dk1"/>
                </a:solidFill>
                <a:latin typeface="Lexend Mega"/>
                <a:ea typeface="Lexend Mega"/>
                <a:cs typeface="Lexend Mega"/>
                <a:sym typeface="Lexend Meg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ga"/>
              <a:buNone/>
              <a:defRPr b="1" i="0" sz="2100" u="none" cap="none" strike="noStrike">
                <a:solidFill>
                  <a:schemeClr val="dk1"/>
                </a:solidFill>
                <a:latin typeface="Lexend Mega"/>
                <a:ea typeface="Lexend Mega"/>
                <a:cs typeface="Lexend Mega"/>
                <a:sym typeface="Lexend Meg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ga"/>
              <a:buNone/>
              <a:defRPr b="1" i="0" sz="2100" u="none" cap="none" strike="noStrike">
                <a:solidFill>
                  <a:schemeClr val="dk1"/>
                </a:solidFill>
                <a:latin typeface="Lexend Mega"/>
                <a:ea typeface="Lexend Mega"/>
                <a:cs typeface="Lexend Mega"/>
                <a:sym typeface="Lexend Meg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ga"/>
              <a:buNone/>
              <a:defRPr b="1" i="0" sz="2100" u="none" cap="none" strike="noStrike">
                <a:solidFill>
                  <a:schemeClr val="dk1"/>
                </a:solidFill>
                <a:latin typeface="Lexend Mega"/>
                <a:ea typeface="Lexend Mega"/>
                <a:cs typeface="Lexend Mega"/>
                <a:sym typeface="Lexend Meg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ga"/>
              <a:buNone/>
              <a:defRPr b="1" i="0" sz="2100" u="none" cap="none" strike="noStrike">
                <a:solidFill>
                  <a:schemeClr val="dk1"/>
                </a:solidFill>
                <a:latin typeface="Lexend Mega"/>
                <a:ea typeface="Lexend Mega"/>
                <a:cs typeface="Lexend Mega"/>
                <a:sym typeface="Lexend Meg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type="ctrTitle"/>
          </p:nvPr>
        </p:nvSpPr>
        <p:spPr>
          <a:xfrm>
            <a:off x="1072650" y="1185000"/>
            <a:ext cx="6998700" cy="27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30480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Analysing the Impact of Demographic and Lifestyle Factors on Student Performance</a:t>
            </a:r>
            <a:endParaRPr sz="4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84" name="Google Shape;284;p34"/>
          <p:cNvSpPr txBox="1"/>
          <p:nvPr/>
        </p:nvSpPr>
        <p:spPr>
          <a:xfrm>
            <a:off x="1018000" y="3661400"/>
            <a:ext cx="69399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Xirui Li / Ruoyan Gong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/>
          <p:nvPr/>
        </p:nvSpPr>
        <p:spPr>
          <a:xfrm>
            <a:off x="721657" y="2530873"/>
            <a:ext cx="828900" cy="458700"/>
          </a:xfrm>
          <a:prstGeom prst="ellipse">
            <a:avLst/>
          </a:prstGeom>
          <a:solidFill>
            <a:schemeClr val="accent1"/>
          </a:solidFill>
          <a:ln cap="flat" cmpd="sng" w="8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t/>
            </a:r>
            <a:endParaRPr b="0" i="0" sz="12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5"/>
          <p:cNvSpPr/>
          <p:nvPr/>
        </p:nvSpPr>
        <p:spPr>
          <a:xfrm>
            <a:off x="721657" y="1014012"/>
            <a:ext cx="828900" cy="458700"/>
          </a:xfrm>
          <a:prstGeom prst="ellipse">
            <a:avLst/>
          </a:prstGeom>
          <a:solidFill>
            <a:schemeClr val="accent1"/>
          </a:solidFill>
          <a:ln cap="flat" cmpd="sng" w="8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t/>
            </a:r>
            <a:endParaRPr b="0" i="0" sz="12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5"/>
          <p:cNvSpPr/>
          <p:nvPr/>
        </p:nvSpPr>
        <p:spPr>
          <a:xfrm>
            <a:off x="721657" y="1759548"/>
            <a:ext cx="828900" cy="458700"/>
          </a:xfrm>
          <a:prstGeom prst="ellipse">
            <a:avLst/>
          </a:prstGeom>
          <a:solidFill>
            <a:schemeClr val="accent1"/>
          </a:solidFill>
          <a:ln cap="flat" cmpd="sng" w="8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t/>
            </a:r>
            <a:endParaRPr b="0" i="0" sz="12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5"/>
          <p:cNvSpPr/>
          <p:nvPr/>
        </p:nvSpPr>
        <p:spPr>
          <a:xfrm>
            <a:off x="721650" y="3327837"/>
            <a:ext cx="828900" cy="458700"/>
          </a:xfrm>
          <a:prstGeom prst="ellipse">
            <a:avLst/>
          </a:prstGeom>
          <a:solidFill>
            <a:schemeClr val="accent1"/>
          </a:solidFill>
          <a:ln cap="flat" cmpd="sng" w="8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t/>
            </a:r>
            <a:endParaRPr b="0" i="0" sz="12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5"/>
          <p:cNvSpPr txBox="1"/>
          <p:nvPr>
            <p:ph idx="2" type="title"/>
          </p:nvPr>
        </p:nvSpPr>
        <p:spPr>
          <a:xfrm>
            <a:off x="800260" y="1027894"/>
            <a:ext cx="66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72"/>
              <a:buNone/>
            </a:pPr>
            <a:r>
              <a:rPr lang="en" sz="2137">
                <a:latin typeface="Calibri"/>
                <a:ea typeface="Calibri"/>
                <a:cs typeface="Calibri"/>
                <a:sym typeface="Calibri"/>
              </a:rPr>
              <a:t>01</a:t>
            </a:r>
            <a:endParaRPr sz="21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5"/>
          <p:cNvSpPr txBox="1"/>
          <p:nvPr>
            <p:ph idx="3" type="title"/>
          </p:nvPr>
        </p:nvSpPr>
        <p:spPr>
          <a:xfrm>
            <a:off x="1550556" y="3347393"/>
            <a:ext cx="2327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48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Confidence Interval</a:t>
            </a:r>
            <a:endParaRPr sz="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5"/>
          <p:cNvSpPr txBox="1"/>
          <p:nvPr>
            <p:ph idx="4" type="title"/>
          </p:nvPr>
        </p:nvSpPr>
        <p:spPr>
          <a:xfrm>
            <a:off x="805130" y="3341721"/>
            <a:ext cx="66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72"/>
              <a:buNone/>
            </a:pPr>
            <a:r>
              <a:rPr lang="en" sz="2137">
                <a:latin typeface="Calibri"/>
                <a:ea typeface="Calibri"/>
                <a:cs typeface="Calibri"/>
                <a:sym typeface="Calibri"/>
              </a:rPr>
              <a:t>04</a:t>
            </a:r>
            <a:endParaRPr sz="21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5"/>
          <p:cNvSpPr txBox="1"/>
          <p:nvPr>
            <p:ph idx="6" type="title"/>
          </p:nvPr>
        </p:nvSpPr>
        <p:spPr>
          <a:xfrm>
            <a:off x="1550558" y="1754342"/>
            <a:ext cx="38112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204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5"/>
          <p:cNvSpPr txBox="1"/>
          <p:nvPr>
            <p:ph idx="7" type="title"/>
          </p:nvPr>
        </p:nvSpPr>
        <p:spPr>
          <a:xfrm>
            <a:off x="805159" y="1765956"/>
            <a:ext cx="66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72"/>
              <a:buNone/>
            </a:pPr>
            <a:r>
              <a:rPr lang="en" sz="2137">
                <a:latin typeface="Calibri"/>
                <a:ea typeface="Calibri"/>
                <a:cs typeface="Calibri"/>
                <a:sym typeface="Calibri"/>
              </a:rPr>
              <a:t>02</a:t>
            </a:r>
            <a:endParaRPr sz="21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5"/>
          <p:cNvSpPr txBox="1"/>
          <p:nvPr>
            <p:ph idx="15" type="title"/>
          </p:nvPr>
        </p:nvSpPr>
        <p:spPr>
          <a:xfrm>
            <a:off x="721650" y="456900"/>
            <a:ext cx="23805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35"/>
          <p:cNvCxnSpPr/>
          <p:nvPr/>
        </p:nvCxnSpPr>
        <p:spPr>
          <a:xfrm>
            <a:off x="-172725" y="261708"/>
            <a:ext cx="940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35"/>
          <p:cNvSpPr txBox="1"/>
          <p:nvPr>
            <p:ph idx="16" type="title"/>
          </p:nvPr>
        </p:nvSpPr>
        <p:spPr>
          <a:xfrm>
            <a:off x="1550541" y="2515187"/>
            <a:ext cx="3731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Hypothesis </a:t>
            </a:r>
            <a:r>
              <a:rPr lang="en" sz="20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204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7"/>
              <a:buNone/>
            </a:pPr>
            <a:r>
              <a:t/>
            </a:r>
            <a:endParaRPr sz="142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5"/>
          <p:cNvSpPr txBox="1"/>
          <p:nvPr>
            <p:ph idx="17" type="title"/>
          </p:nvPr>
        </p:nvSpPr>
        <p:spPr>
          <a:xfrm>
            <a:off x="800283" y="2543694"/>
            <a:ext cx="66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72"/>
              <a:buNone/>
            </a:pPr>
            <a:r>
              <a:rPr lang="en" sz="2137">
                <a:latin typeface="Calibri"/>
                <a:ea typeface="Calibri"/>
                <a:cs typeface="Calibri"/>
                <a:sym typeface="Calibri"/>
              </a:rPr>
              <a:t>03</a:t>
            </a:r>
            <a:endParaRPr sz="21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721650" y="4033862"/>
            <a:ext cx="828900" cy="458700"/>
          </a:xfrm>
          <a:prstGeom prst="ellipse">
            <a:avLst/>
          </a:prstGeom>
          <a:solidFill>
            <a:schemeClr val="accent1"/>
          </a:solidFill>
          <a:ln cap="flat" cmpd="sng" w="8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7"/>
              <a:buFont typeface="Arial"/>
              <a:buNone/>
            </a:pPr>
            <a:r>
              <a:t/>
            </a:r>
            <a:endParaRPr b="0" i="0" sz="12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5"/>
          <p:cNvSpPr txBox="1"/>
          <p:nvPr>
            <p:ph idx="3" type="title"/>
          </p:nvPr>
        </p:nvSpPr>
        <p:spPr>
          <a:xfrm>
            <a:off x="1593156" y="4068631"/>
            <a:ext cx="2327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48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48">
              <a:solidFill>
                <a:srgbClr val="2021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5"/>
          <p:cNvSpPr txBox="1"/>
          <p:nvPr>
            <p:ph idx="4" type="title"/>
          </p:nvPr>
        </p:nvSpPr>
        <p:spPr>
          <a:xfrm>
            <a:off x="805130" y="4047746"/>
            <a:ext cx="66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72"/>
              <a:buNone/>
            </a:pPr>
            <a:r>
              <a:rPr lang="en" sz="2137">
                <a:latin typeface="Calibri"/>
                <a:ea typeface="Calibri"/>
                <a:cs typeface="Calibri"/>
                <a:sym typeface="Calibri"/>
              </a:rPr>
              <a:t>05</a:t>
            </a:r>
            <a:endParaRPr sz="21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5"/>
          <p:cNvSpPr txBox="1"/>
          <p:nvPr>
            <p:ph idx="6" type="title"/>
          </p:nvPr>
        </p:nvSpPr>
        <p:spPr>
          <a:xfrm>
            <a:off x="1550558" y="993492"/>
            <a:ext cx="38112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204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/>
          <p:nvPr>
            <p:ph type="title"/>
          </p:nvPr>
        </p:nvSpPr>
        <p:spPr>
          <a:xfrm>
            <a:off x="1739550" y="2151025"/>
            <a:ext cx="53565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500"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4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6"/>
          <p:cNvSpPr txBox="1"/>
          <p:nvPr>
            <p:ph idx="2" type="title"/>
          </p:nvPr>
        </p:nvSpPr>
        <p:spPr>
          <a:xfrm>
            <a:off x="3616050" y="1309225"/>
            <a:ext cx="160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/>
        </p:nvSpPr>
        <p:spPr>
          <a:xfrm>
            <a:off x="556800" y="699600"/>
            <a:ext cx="8030400" cy="3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academic performance is influenced by multiple factors beyond classroom learning.</a:t>
            </a: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Demographic, family, and lifestyle aspects play crucial roles in shaping educational outcomes.</a:t>
            </a: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these factors helps educators and policymakers develop effective support systems.</a:t>
            </a: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Dataset: UCI Student Performance Dataset (Portuguese secondary education students).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7" name="Google Shape;317;p37"/>
          <p:cNvSpPr txBox="1"/>
          <p:nvPr>
            <p:ph type="title"/>
          </p:nvPr>
        </p:nvSpPr>
        <p:spPr>
          <a:xfrm>
            <a:off x="610275" y="77575"/>
            <a:ext cx="3225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1.1 Introduction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/>
          <p:nvPr>
            <p:ph idx="1" type="body"/>
          </p:nvPr>
        </p:nvSpPr>
        <p:spPr>
          <a:xfrm>
            <a:off x="513600" y="742125"/>
            <a:ext cx="8116800" cy="3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Student performance varies widely even within similar classroom environments.</a:t>
            </a:r>
            <a:br>
              <a:rPr lang="en" sz="2100">
                <a:latin typeface="Calibri"/>
                <a:ea typeface="Calibri"/>
                <a:cs typeface="Calibri"/>
                <a:sym typeface="Calibri"/>
              </a:rPr>
            </a:b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Limited understanding of how demographic and lifestyle factors interact to influence academic outcomes.</a:t>
            </a:r>
            <a:br>
              <a:rPr lang="en" sz="2100">
                <a:latin typeface="Calibri"/>
                <a:ea typeface="Calibri"/>
                <a:cs typeface="Calibri"/>
                <a:sym typeface="Calibri"/>
              </a:rPr>
            </a:b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Need to identify which factors most strongly correlate with high or low academic achievement.</a:t>
            </a:r>
            <a:br>
              <a:rPr lang="en" sz="2100">
                <a:latin typeface="Calibri"/>
                <a:ea typeface="Calibri"/>
                <a:cs typeface="Calibri"/>
                <a:sym typeface="Calibri"/>
              </a:rPr>
            </a:b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Challenge: balancing complex, interrelated variables such as family background, study habits, and personal behaviors.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38"/>
          <p:cNvSpPr txBox="1"/>
          <p:nvPr>
            <p:ph type="title"/>
          </p:nvPr>
        </p:nvSpPr>
        <p:spPr>
          <a:xfrm>
            <a:off x="513600" y="102350"/>
            <a:ext cx="75258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1.2</a:t>
            </a:r>
            <a:r>
              <a:rPr lang="en" sz="3200"/>
              <a:t>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"/>
          <p:cNvSpPr txBox="1"/>
          <p:nvPr>
            <p:ph type="title"/>
          </p:nvPr>
        </p:nvSpPr>
        <p:spPr>
          <a:xfrm>
            <a:off x="526100" y="103224"/>
            <a:ext cx="38643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1.3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9"/>
          <p:cNvSpPr txBox="1"/>
          <p:nvPr>
            <p:ph idx="1" type="subTitle"/>
          </p:nvPr>
        </p:nvSpPr>
        <p:spPr>
          <a:xfrm>
            <a:off x="471150" y="733525"/>
            <a:ext cx="8201700" cy="3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To analyze the impact of demographic, family, and lifestyle factors on students’ final grades.</a:t>
            </a:r>
            <a:br>
              <a:rPr lang="en" sz="2100"/>
            </a:br>
            <a:endParaRPr sz="2100"/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To identify significant predictors of academic performance using data-driven analysis.</a:t>
            </a:r>
            <a:br>
              <a:rPr lang="en" sz="2100"/>
            </a:br>
            <a:endParaRPr sz="2100"/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To provide actionable insights for improving educational support and student well-being.</a:t>
            </a:r>
            <a:br>
              <a:rPr lang="en" sz="2100"/>
            </a:br>
            <a:endParaRPr sz="2100"/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Long-term goal: contribute to evidence-based educational policy and intervention strategies.</a:t>
            </a:r>
            <a:endParaRPr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idx="2" type="title"/>
          </p:nvPr>
        </p:nvSpPr>
        <p:spPr>
          <a:xfrm>
            <a:off x="3719800" y="1250425"/>
            <a:ext cx="160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1266450" y="2181150"/>
            <a:ext cx="66111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1"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526100" y="103224"/>
            <a:ext cx="38643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2.1 Dataset Overview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1"/>
          <p:cNvSpPr txBox="1"/>
          <p:nvPr>
            <p:ph idx="1" type="subTitle"/>
          </p:nvPr>
        </p:nvSpPr>
        <p:spPr>
          <a:xfrm>
            <a:off x="471150" y="733525"/>
            <a:ext cx="8201700" cy="3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25450" lvl="0" marL="457200" rtl="0" algn="just">
              <a:spcBef>
                <a:spcPts val="0"/>
              </a:spcBef>
              <a:spcAft>
                <a:spcPts val="0"/>
              </a:spcAft>
              <a:buSzPts val="3100"/>
              <a:buFont typeface="Calibri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UCI Student Performance dataset 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658 observations, 32 variables</a:t>
            </a:r>
            <a:b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0" marL="457200" rtl="0" algn="just">
              <a:spcBef>
                <a:spcPts val="0"/>
              </a:spcBef>
              <a:spcAft>
                <a:spcPts val="0"/>
              </a:spcAft>
              <a:buSzPts val="3100"/>
              <a:buFont typeface="Calibri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Represents secondary school students’ demographic, family, lifestyle, and academic data.</a:t>
            </a:r>
            <a:b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0" marL="457200" rtl="0" algn="just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 variable: Grade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type="title"/>
          </p:nvPr>
        </p:nvSpPr>
        <p:spPr>
          <a:xfrm>
            <a:off x="526100" y="103225"/>
            <a:ext cx="46836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2.2 Dataset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Composition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2"/>
          <p:cNvSpPr txBox="1"/>
          <p:nvPr>
            <p:ph idx="1" type="subTitle"/>
          </p:nvPr>
        </p:nvSpPr>
        <p:spPr>
          <a:xfrm>
            <a:off x="471150" y="733525"/>
            <a:ext cx="8201700" cy="3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25450" lvl="0" marL="457200" rtl="0" algn="just">
              <a:spcBef>
                <a:spcPts val="0"/>
              </a:spcBef>
              <a:spcAft>
                <a:spcPts val="0"/>
              </a:spcAft>
              <a:buSzPts val="3100"/>
              <a:buFont typeface="Calibri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 categorical variables </a:t>
            </a:r>
            <a:b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0" marL="457200" rtl="0" algn="just">
              <a:spcBef>
                <a:spcPts val="0"/>
              </a:spcBef>
              <a:spcAft>
                <a:spcPts val="0"/>
              </a:spcAft>
              <a:buSzPts val="3100"/>
              <a:buFont typeface="Calibri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 numerical variables</a:t>
            </a:r>
            <a:b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0" marL="457200" rtl="0" algn="just">
              <a:spcBef>
                <a:spcPts val="0"/>
              </a:spcBef>
              <a:spcAft>
                <a:spcPts val="0"/>
              </a:spcAft>
              <a:buSzPts val="3100"/>
              <a:buFont typeface="Calibri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Minimal missing values</a:t>
            </a:r>
            <a:b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0" marL="457200" rtl="0" algn="just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types: 18 object, 13 int64, 1 float64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"/>
          <p:cNvSpPr txBox="1"/>
          <p:nvPr>
            <p:ph type="title"/>
          </p:nvPr>
        </p:nvSpPr>
        <p:spPr>
          <a:xfrm>
            <a:off x="526100" y="103225"/>
            <a:ext cx="54108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2.3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Descriptive Highlights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/>
          <p:nvPr>
            <p:ph idx="1" type="subTitle"/>
          </p:nvPr>
        </p:nvSpPr>
        <p:spPr>
          <a:xfrm>
            <a:off x="471150" y="733525"/>
            <a:ext cx="8201700" cy="3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age: 16.75 years.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final grade: 11.78.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study time: ~2 hours category, most students study 1–2 hours daily.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 parents have moderate education.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Majority: Female (≈58%), Urban address, UK school code “GP”.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Family and school support present in ~60% of students.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Absences show wide variation, suggesting behavioral differences.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/>
          <p:nvPr>
            <p:ph type="title"/>
          </p:nvPr>
        </p:nvSpPr>
        <p:spPr>
          <a:xfrm>
            <a:off x="526100" y="103225"/>
            <a:ext cx="54108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2.4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Missing Values Handling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4"/>
          <p:cNvSpPr txBox="1"/>
          <p:nvPr>
            <p:ph idx="1" type="subTitle"/>
          </p:nvPr>
        </p:nvSpPr>
        <p:spPr>
          <a:xfrm>
            <a:off x="526100" y="1517950"/>
            <a:ext cx="6067500" cy="2266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libri"/>
              <a:buChar char="●"/>
            </a:pPr>
            <a:r>
              <a:rPr lang="en" sz="2100">
                <a:latin typeface="Roboto Mono"/>
                <a:ea typeface="Roboto Mono"/>
                <a:cs typeface="Roboto Mono"/>
                <a:sym typeface="Roboto Mono"/>
              </a:rPr>
              <a:t>address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 filled with mode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libri"/>
              <a:buChar char="●"/>
            </a:pPr>
            <a:r>
              <a:rPr lang="en" sz="2100"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 filled with median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libri"/>
              <a:buChar char="●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All missing values successfully imputed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5"/>
          <p:cNvSpPr txBox="1"/>
          <p:nvPr>
            <p:ph type="title"/>
          </p:nvPr>
        </p:nvSpPr>
        <p:spPr>
          <a:xfrm>
            <a:off x="526100" y="103225"/>
            <a:ext cx="54108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2.5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Outlier Treatment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45" title="outli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713" y="848400"/>
            <a:ext cx="7694575" cy="38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6"/>
          <p:cNvSpPr txBox="1"/>
          <p:nvPr>
            <p:ph type="title"/>
          </p:nvPr>
        </p:nvSpPr>
        <p:spPr>
          <a:xfrm>
            <a:off x="526100" y="103225"/>
            <a:ext cx="54108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2.5 Outlier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Handling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6"/>
          <p:cNvSpPr txBox="1"/>
          <p:nvPr/>
        </p:nvSpPr>
        <p:spPr>
          <a:xfrm>
            <a:off x="526100" y="955975"/>
            <a:ext cx="74553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columns: absences, studytime, Grade</a:t>
            </a: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Outliers detected using IQR method</a:t>
            </a: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Outliers replaced with median</a:t>
            </a: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values effectively mitigated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7"/>
          <p:cNvSpPr txBox="1"/>
          <p:nvPr>
            <p:ph type="title"/>
          </p:nvPr>
        </p:nvSpPr>
        <p:spPr>
          <a:xfrm>
            <a:off x="429875" y="113925"/>
            <a:ext cx="93246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2.6 Skewness and Kurtosis of Numeric Variables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47" title="偏度峰度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775" y="896625"/>
            <a:ext cx="7282149" cy="37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 txBox="1"/>
          <p:nvPr>
            <p:ph type="title"/>
          </p:nvPr>
        </p:nvSpPr>
        <p:spPr>
          <a:xfrm>
            <a:off x="429875" y="113925"/>
            <a:ext cx="93246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2.7 Univariate distribution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48" title="单变量分布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975" y="744225"/>
            <a:ext cx="5462288" cy="40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type="title"/>
          </p:nvPr>
        </p:nvSpPr>
        <p:spPr>
          <a:xfrm>
            <a:off x="429875" y="113925"/>
            <a:ext cx="93246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2.8 Frequency of categorical variables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49" title="分类变量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075" y="827825"/>
            <a:ext cx="7324948" cy="391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 txBox="1"/>
          <p:nvPr>
            <p:ph type="title"/>
          </p:nvPr>
        </p:nvSpPr>
        <p:spPr>
          <a:xfrm>
            <a:off x="429875" y="113925"/>
            <a:ext cx="93246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2.9 Correlation with Final Grade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50" title="热力图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387" y="744225"/>
            <a:ext cx="6095225" cy="409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1"/>
          <p:cNvSpPr txBox="1"/>
          <p:nvPr>
            <p:ph idx="2" type="title"/>
          </p:nvPr>
        </p:nvSpPr>
        <p:spPr>
          <a:xfrm>
            <a:off x="3719800" y="1250425"/>
            <a:ext cx="160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1"/>
          <p:cNvSpPr txBox="1"/>
          <p:nvPr/>
        </p:nvSpPr>
        <p:spPr>
          <a:xfrm>
            <a:off x="2112300" y="2375325"/>
            <a:ext cx="49194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Hypothesis</a:t>
            </a:r>
            <a:r>
              <a:rPr b="1" lang="en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testing</a:t>
            </a:r>
            <a:endParaRPr b="1"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2"/>
          <p:cNvSpPr txBox="1"/>
          <p:nvPr>
            <p:ph type="title"/>
          </p:nvPr>
        </p:nvSpPr>
        <p:spPr>
          <a:xfrm>
            <a:off x="526100" y="103225"/>
            <a:ext cx="811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Hypothesis testing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2"/>
          <p:cNvSpPr txBox="1"/>
          <p:nvPr>
            <p:ph idx="1" type="subTitle"/>
          </p:nvPr>
        </p:nvSpPr>
        <p:spPr>
          <a:xfrm>
            <a:off x="600950" y="915325"/>
            <a:ext cx="6939900" cy="3437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H1. School effect on Grade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H0: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Mean Grade is equal between GP and MS.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Independent (Welch) t-test.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Reject H0 — Grades differ between schools (</a:t>
            </a: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5.877, </a:t>
            </a: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&lt; 0.001).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Interpretation: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School context is associated with achievement (practical size reported via Cohen’s </a:t>
            </a: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H2. Study time relates to Grade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H0: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Mean Grade is equal across studytime (1–4) levels.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One-way ANOVA (or Kruskal–Wallis). Post-hoc with Tukey/Conover + FDR.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Expectation from EDA: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Higher studytime → higher Grade.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3"/>
          <p:cNvSpPr txBox="1"/>
          <p:nvPr>
            <p:ph type="title"/>
          </p:nvPr>
        </p:nvSpPr>
        <p:spPr>
          <a:xfrm>
            <a:off x="526100" y="103225"/>
            <a:ext cx="811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Hypothesis testing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3"/>
          <p:cNvSpPr txBox="1"/>
          <p:nvPr>
            <p:ph idx="1" type="subTitle"/>
          </p:nvPr>
        </p:nvSpPr>
        <p:spPr>
          <a:xfrm>
            <a:off x="600950" y="733525"/>
            <a:ext cx="6939900" cy="4018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H3. Prior failures reduce Grade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H0: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association between failures and Grade.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Spearman correlation (and linear trend in OLS as sensitivity).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Expectation: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Negative correlation.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H4. Absences reduce Grade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H0: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association between absences and Grade.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Spearman/Pearson depending on distribution.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Expectation: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Negative correlation.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H5. Alcohol use is detrimental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H0: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association between Dalc/Walc and Grade.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Spearman correlation; optional ANCOVA adjusting for age, studytime.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Expectation: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Stronger for Walc (weekend) — negative association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4"/>
          <p:cNvSpPr txBox="1"/>
          <p:nvPr>
            <p:ph type="title"/>
          </p:nvPr>
        </p:nvSpPr>
        <p:spPr>
          <a:xfrm>
            <a:off x="526100" y="103225"/>
            <a:ext cx="811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Hypothesis testing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4"/>
          <p:cNvSpPr txBox="1"/>
          <p:nvPr>
            <p:ph idx="1" type="subTitle"/>
          </p:nvPr>
        </p:nvSpPr>
        <p:spPr>
          <a:xfrm>
            <a:off x="632975" y="1082100"/>
            <a:ext cx="6939900" cy="297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H6. Parental education benefits Grade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H0: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Mean Grade is equal across Medu/Fedu (0–4).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ANOVA or Jonckheere–Terpstra for ordered trend.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Expectation: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Positive monotonic trend with parental education.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H7. Commute time burdens Grade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H0: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association between traveltime and Grade.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Spearman (ordinal).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Expectation: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Small negative association.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5"/>
          <p:cNvSpPr txBox="1"/>
          <p:nvPr>
            <p:ph idx="2" type="title"/>
          </p:nvPr>
        </p:nvSpPr>
        <p:spPr>
          <a:xfrm>
            <a:off x="3719800" y="1250425"/>
            <a:ext cx="160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55"/>
          <p:cNvSpPr txBox="1"/>
          <p:nvPr/>
        </p:nvSpPr>
        <p:spPr>
          <a:xfrm>
            <a:off x="1790050" y="2423950"/>
            <a:ext cx="54630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Confidence Interval</a:t>
            </a:r>
            <a:endParaRPr b="1" sz="3900">
              <a:solidFill>
                <a:srgbClr val="2021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6"/>
          <p:cNvSpPr txBox="1"/>
          <p:nvPr>
            <p:ph type="title"/>
          </p:nvPr>
        </p:nvSpPr>
        <p:spPr>
          <a:xfrm>
            <a:off x="526100" y="103225"/>
            <a:ext cx="811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4.1 Confidence Interval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6"/>
          <p:cNvSpPr txBox="1"/>
          <p:nvPr>
            <p:ph idx="1" type="subTitle"/>
          </p:nvPr>
        </p:nvSpPr>
        <p:spPr>
          <a:xfrm>
            <a:off x="526100" y="914875"/>
            <a:ext cx="7389000" cy="358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 Grade: 12.19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95% CI: [11.99, 12.39] (ME ≈ ±0.20)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Takeaway: The school’s true average grade is tightly centered around 12.2, indicating consistent central performance.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 Absences: 3.06 days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95% CI: [2.79, 3.33] (ME ≈ ±0.27)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Takeaway: Typical absenteeism is low-to-moderate; variability is limited at the population level.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7"/>
          <p:cNvSpPr txBox="1"/>
          <p:nvPr>
            <p:ph type="title"/>
          </p:nvPr>
        </p:nvSpPr>
        <p:spPr>
          <a:xfrm>
            <a:off x="526100" y="103225"/>
            <a:ext cx="811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4.2 Confidence Interval 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7"/>
          <p:cNvSpPr txBox="1"/>
          <p:nvPr>
            <p:ph idx="1" type="subTitle"/>
          </p:nvPr>
        </p:nvSpPr>
        <p:spPr>
          <a:xfrm>
            <a:off x="600950" y="733525"/>
            <a:ext cx="6939900" cy="3437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 Rate: 87.08%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95% CI: [84.52%, 89.64%] (ME ≈ ±2.56 pp)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Takeaway: Even the lower bound (&gt;84%) reflects a high probability of passing across the school.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Higher-Education Aspiration: 89.36%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95% CI: [87.01%, 91.72%] (ME ≈ ±2.36 pp)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Takeaway: Aspirations are consistently high; the entire interval is well above 80%, suggesting strong college-going intent.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8"/>
          <p:cNvSpPr txBox="1"/>
          <p:nvPr>
            <p:ph idx="2" type="title"/>
          </p:nvPr>
        </p:nvSpPr>
        <p:spPr>
          <a:xfrm>
            <a:off x="3719800" y="1250425"/>
            <a:ext cx="160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8"/>
          <p:cNvSpPr txBox="1"/>
          <p:nvPr/>
        </p:nvSpPr>
        <p:spPr>
          <a:xfrm>
            <a:off x="1790050" y="2423950"/>
            <a:ext cx="54630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r>
              <a:rPr b="1" lang="en" sz="3900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900">
              <a:solidFill>
                <a:srgbClr val="2021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9"/>
          <p:cNvSpPr txBox="1"/>
          <p:nvPr>
            <p:ph type="title"/>
          </p:nvPr>
        </p:nvSpPr>
        <p:spPr>
          <a:xfrm>
            <a:off x="526100" y="103225"/>
            <a:ext cx="811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5. Conclusion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9"/>
          <p:cNvSpPr txBox="1"/>
          <p:nvPr>
            <p:ph idx="1" type="subTitle"/>
          </p:nvPr>
        </p:nvSpPr>
        <p:spPr>
          <a:xfrm>
            <a:off x="526100" y="914875"/>
            <a:ext cx="7389000" cy="358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Studytime and Parental Education (Medu/Fedu) → Higher grades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Failures, Absences, Weekend Alcohol Use (Walc) → Lower grades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School differences exist but with moderate effect sizes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Commute time shows a weak negative trend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Statistical Insights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Significant associations confirmed by t-tests, ANOVA, and correlations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Effect sizes (Cohen’s </a:t>
            </a:r>
            <a:r>
              <a:rPr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η², </a:t>
            </a:r>
            <a:r>
              <a:rPr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show small–moderate practical impacts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95% CIs indicate consistent central performance and high reliability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"/>
          <p:cNvSpPr txBox="1"/>
          <p:nvPr/>
        </p:nvSpPr>
        <p:spPr>
          <a:xfrm>
            <a:off x="3213875" y="763475"/>
            <a:ext cx="37428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Thanks!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ft Skills Development by Slidesgo">
  <a:themeElements>
    <a:clrScheme name="Simple Light">
      <a:dk1>
        <a:srgbClr val="3F3934"/>
      </a:dk1>
      <a:lt1>
        <a:srgbClr val="FFFFFF"/>
      </a:lt1>
      <a:dk2>
        <a:srgbClr val="323232"/>
      </a:dk2>
      <a:lt2>
        <a:srgbClr val="EEEEEE"/>
      </a:lt2>
      <a:accent1>
        <a:srgbClr val="F5E6C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13C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